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16"/>
  </p:notesMasterIdLst>
  <p:sldIdLst>
    <p:sldId id="256" r:id="rId2"/>
    <p:sldId id="308" r:id="rId3"/>
    <p:sldId id="327" r:id="rId4"/>
    <p:sldId id="329" r:id="rId5"/>
    <p:sldId id="328" r:id="rId6"/>
    <p:sldId id="330" r:id="rId7"/>
    <p:sldId id="332" r:id="rId8"/>
    <p:sldId id="331" r:id="rId9"/>
    <p:sldId id="333" r:id="rId10"/>
    <p:sldId id="334" r:id="rId11"/>
    <p:sldId id="337" r:id="rId12"/>
    <p:sldId id="335" r:id="rId13"/>
    <p:sldId id="336" r:id="rId14"/>
    <p:sldId id="32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33CC33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91" autoAdjust="0"/>
  </p:normalViewPr>
  <p:slideViewPr>
    <p:cSldViewPr>
      <p:cViewPr varScale="1">
        <p:scale>
          <a:sx n="78" d="100"/>
          <a:sy n="78" d="100"/>
        </p:scale>
        <p:origin x="850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05/04/2024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8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38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91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4661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2138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043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302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449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744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973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097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Minha apresentação</a:t>
            </a:r>
          </a:p>
          <a:p>
            <a:r>
              <a:rPr lang="pt-BR" dirty="0"/>
              <a:t>Apresenta aula</a:t>
            </a:r>
          </a:p>
          <a:p>
            <a:r>
              <a:rPr lang="pt-BR" dirty="0"/>
              <a:t>Metodologia de nivelamento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134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964A-33DB-4300-888A-A252A4EEFCBC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UNIFOR</a:t>
            </a:r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  <p:sp>
        <p:nvSpPr>
          <p:cNvPr id="39" name="Retângulo 38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tângulo 39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1" name="Retângulo 40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2" name="Retângulo 41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kumimoji="0" lang="pt-BR" dirty="0"/>
              <a:t>Clique para editar o estilo do título mestre</a:t>
            </a:r>
            <a:endParaRPr kumimoji="0"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9334-25BB-4FF1-AF2B-7A037A60639D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UNIFOR</a:t>
            </a:r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vre 13"/>
          <p:cNvSpPr>
            <a:spLocks/>
          </p:cNvSpPr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5" name="Forma livre 14"/>
          <p:cNvSpPr>
            <a:spLocks/>
          </p:cNvSpPr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3" name="Forma livre 12"/>
          <p:cNvSpPr>
            <a:spLocks/>
          </p:cNvSpPr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6" name="Forma livre 15"/>
          <p:cNvSpPr>
            <a:spLocks/>
          </p:cNvSpPr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7" name="Forma livre 16"/>
          <p:cNvSpPr>
            <a:spLocks/>
          </p:cNvSpPr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8" name="Forma livre 17"/>
          <p:cNvSpPr>
            <a:spLocks/>
          </p:cNvSpPr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9" name="Forma livre 18"/>
          <p:cNvSpPr>
            <a:spLocks/>
          </p:cNvSpPr>
          <p:nvPr/>
        </p:nvSpPr>
        <p:spPr bwMode="auto">
          <a:xfrm>
            <a:off x="7931152" y="4246564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0" name="Forma livre 19"/>
          <p:cNvSpPr>
            <a:spLocks/>
          </p:cNvSpPr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1" name="Forma livre 20"/>
          <p:cNvSpPr>
            <a:spLocks/>
          </p:cNvSpPr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2" name="Forma livre 21"/>
          <p:cNvSpPr>
            <a:spLocks/>
          </p:cNvSpPr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3" name="Forma livre 22"/>
          <p:cNvSpPr>
            <a:spLocks/>
          </p:cNvSpPr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4" name="Forma livre 23"/>
          <p:cNvSpPr>
            <a:spLocks/>
          </p:cNvSpPr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5" name="Forma livre 24"/>
          <p:cNvSpPr>
            <a:spLocks/>
          </p:cNvSpPr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6" name="Forma livre 25"/>
          <p:cNvSpPr>
            <a:spLocks/>
          </p:cNvSpPr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7" name="Forma livre 26"/>
          <p:cNvSpPr>
            <a:spLocks/>
          </p:cNvSpPr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FA81-A189-4B50-A3F8-1F809F590309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UNIFOR</a:t>
            </a:r>
            <a:endParaRPr kumimoji="0"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  <p:sp>
        <p:nvSpPr>
          <p:cNvPr id="7" name="Retângulo 6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9" name="Retângulo 8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tângulo 9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2" name="Retângulo 11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4F5B-4AB2-4100-A6AA-69EB3AFC8386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UNIFOR</a:t>
            </a:r>
            <a:endParaRPr kumimoji="0"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6770-0E5C-4C36-BB1A-32F19176BEB8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UNIFOR</a:t>
            </a:r>
            <a:endParaRPr kumimoji="0" lang="en-US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  <p:sp>
        <p:nvSpPr>
          <p:cNvPr id="16" name="Retângulo 15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7" name="Retângulo 16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8" name="Retângulo 17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0" name="Retângulo 19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1" name="Retângulo 20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Retângulo 21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tângulo 29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C229-9FB6-4240-872D-56147F8C7DA3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UNIFOR</a:t>
            </a:r>
            <a:endParaRPr kumimoji="0" lang="en-US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97DF-42FE-4D55-8ABF-695467DF03F4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UNIFOR</a:t>
            </a:r>
            <a:endParaRPr kumimoji="0"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13ACD-6C79-42A7-8EE8-312CCE95BECD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UNIFOR</a:t>
            </a:r>
            <a:endParaRPr kumimoji="0"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9" name="Conector reto 8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upo 9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5" name="Conector reto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grpSp>
        <p:nvGrpSpPr>
          <p:cNvPr id="14" name="Grupo 13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1" name="Conector reto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o 17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9" name="Conector reto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/>
          <a:p>
            <a:fld id="{4A54B59D-2AA8-4781-A4F5-F408FB08A10D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/>
          <a:p>
            <a:r>
              <a:rPr kumimoji="0" lang="en-US"/>
              <a:t>UNIFOR</a:t>
            </a:r>
            <a:endParaRPr kumimoji="0"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E6C6-E789-41F0-9F69-83202AE6BD4A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UNIFOR</a:t>
            </a:r>
            <a:endParaRPr kumimoji="0"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C41B7-09BD-493C-AB74-76FF558A3C9C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UNIFOR</a:t>
            </a:r>
            <a:endParaRPr kumimoji="0"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5" name="Retângulo 14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6" name="Retângulo 15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7" name="Retângulo 16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B6561F0-3587-4F81-8DB6-923533AFE151}" type="datetime1">
              <a:rPr lang="en-US" smtClean="0"/>
              <a:t>4/5/2024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2000" b="1">
                <a:solidFill>
                  <a:schemeClr val="tx1"/>
                </a:solidFill>
                <a:latin typeface="+mj-lt"/>
              </a:defRPr>
            </a:lvl1pPr>
            <a:extLst/>
          </a:lstStyle>
          <a:p>
            <a:r>
              <a:rPr lang="en-US"/>
              <a:t>UNIFOR</a:t>
            </a:r>
            <a:endParaRPr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2400" b="1">
                <a:solidFill>
                  <a:schemeClr val="tx1"/>
                </a:solidFill>
              </a:defRPr>
            </a:lvl1pPr>
            <a:extLst/>
          </a:lstStyle>
          <a:p>
            <a:fld id="{D2E57653-3E58-4892-A7ED-712530ACC680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.cern.ch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508760"/>
          </a:xfrm>
        </p:spPr>
        <p:txBody>
          <a:bodyPr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5400" cap="none" dirty="0">
                <a:ln/>
                <a:solidFill>
                  <a:srgbClr val="00CC00"/>
                </a:solidFill>
                <a:effectLst>
                  <a:reflection blurRad="6350" stA="50000" endA="300" endPos="50000" dist="60007" dir="5400000" sy="-100000" algn="bl" rotWithShape="0"/>
                </a:effectLst>
              </a:rPr>
              <a:t>Introdução</a:t>
            </a: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Web Mining &amp; </a:t>
            </a:r>
            <a:r>
              <a:rPr lang="pt-BR" sz="2800" dirty="0" err="1"/>
              <a:t>Crawling</a:t>
            </a:r>
            <a:r>
              <a:rPr lang="pt-BR" sz="2800" dirty="0"/>
              <a:t> </a:t>
            </a:r>
            <a:r>
              <a:rPr lang="pt-BR" sz="2800" dirty="0" err="1"/>
              <a:t>Scraping</a:t>
            </a:r>
            <a:endParaRPr lang="pt-BR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9C2556-098E-4B7B-8B06-2C83A0600B61}"/>
              </a:ext>
            </a:extLst>
          </p:cNvPr>
          <p:cNvSpPr txBox="1"/>
          <p:nvPr/>
        </p:nvSpPr>
        <p:spPr>
          <a:xfrm>
            <a:off x="4367808" y="641323"/>
            <a:ext cx="72145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Palatino Linotype" panose="02040502050505030304" pitchFamily="18" charset="0"/>
                <a:ea typeface="Microsoft Office Preview Font" panose="020B0502040204020203" pitchFamily="34"/>
                <a:cs typeface="Mongolian Baiti" panose="03000500000000000000" pitchFamily="66" charset="0"/>
              </a:rPr>
              <a:t>UNIFOR</a:t>
            </a:r>
          </a:p>
          <a:p>
            <a:r>
              <a:rPr lang="pt-BR" sz="4000" b="1" dirty="0">
                <a:latin typeface="Palatino Linotype" panose="02040502050505030304" pitchFamily="18" charset="0"/>
                <a:ea typeface="Microsoft Office Preview Font" panose="020B0502040204020203" pitchFamily="34"/>
                <a:cs typeface="Mongolian Baiti" panose="03000500000000000000" pitchFamily="66" charset="0"/>
              </a:rPr>
              <a:t>U</a:t>
            </a:r>
            <a:r>
              <a:rPr lang="pt-BR" sz="3200" b="1" dirty="0">
                <a:latin typeface="Palatino Linotype" panose="02040502050505030304" pitchFamily="18" charset="0"/>
                <a:ea typeface="Microsoft Office Preview Font" panose="020B0502040204020203" pitchFamily="34"/>
                <a:cs typeface="Mongolian Baiti" panose="03000500000000000000" pitchFamily="66" charset="0"/>
              </a:rPr>
              <a:t>NIVERSIDADE </a:t>
            </a:r>
            <a:r>
              <a:rPr lang="pt-BR" sz="4000" b="1" dirty="0">
                <a:latin typeface="Palatino Linotype" panose="02040502050505030304" pitchFamily="18" charset="0"/>
                <a:ea typeface="Microsoft Office Preview Font" panose="020B0502040204020203" pitchFamily="34"/>
                <a:cs typeface="Mongolian Baiti" panose="03000500000000000000" pitchFamily="66" charset="0"/>
              </a:rPr>
              <a:t>D</a:t>
            </a:r>
            <a:r>
              <a:rPr lang="pt-BR" sz="3600" b="1" dirty="0">
                <a:latin typeface="Palatino Linotype" panose="02040502050505030304" pitchFamily="18" charset="0"/>
                <a:ea typeface="Microsoft Office Preview Font" panose="020B0502040204020203" pitchFamily="34"/>
                <a:cs typeface="Mongolian Baiti" panose="03000500000000000000" pitchFamily="66" charset="0"/>
              </a:rPr>
              <a:t>E</a:t>
            </a:r>
            <a:r>
              <a:rPr lang="pt-BR" sz="4000" b="1" dirty="0">
                <a:latin typeface="Palatino Linotype" panose="02040502050505030304" pitchFamily="18" charset="0"/>
                <a:ea typeface="Microsoft Office Preview Font" panose="020B0502040204020203" pitchFamily="34"/>
                <a:cs typeface="Mongolian Baiti" panose="03000500000000000000" pitchFamily="66" charset="0"/>
              </a:rPr>
              <a:t> F</a:t>
            </a:r>
            <a:r>
              <a:rPr lang="pt-BR" sz="3200" b="1" dirty="0">
                <a:latin typeface="Palatino Linotype" panose="02040502050505030304" pitchFamily="18" charset="0"/>
                <a:ea typeface="Microsoft Office Preview Font" panose="020B0502040204020203" pitchFamily="34"/>
                <a:cs typeface="Mongolian Baiti" panose="03000500000000000000" pitchFamily="66" charset="0"/>
              </a:rPr>
              <a:t>ORTALEZA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91E178C-9FD2-4189-9123-BD539F8D543D}"/>
              </a:ext>
            </a:extLst>
          </p:cNvPr>
          <p:cNvSpPr txBox="1"/>
          <p:nvPr/>
        </p:nvSpPr>
        <p:spPr>
          <a:xfrm>
            <a:off x="1221723" y="5971495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latin typeface="Caladea" panose="02040503050406030204" pitchFamily="18" charset="0"/>
              </a:rPr>
              <a:t>Prof. Alex Lima</a:t>
            </a:r>
          </a:p>
        </p:txBody>
      </p:sp>
      <p:pic>
        <p:nvPicPr>
          <p:cNvPr id="1026" name="Picture 2" descr="Unifor ressignifica marca e lança nova identidade visual ...">
            <a:extLst>
              <a:ext uri="{FF2B5EF4-FFF2-40B4-BE49-F238E27FC236}">
                <a16:creationId xmlns:a16="http://schemas.microsoft.com/office/drawing/2014/main" id="{E6F681FC-7E39-7D5F-FD4F-8E91A681E4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1" t="18081" r="14091" b="18080"/>
          <a:stretch/>
        </p:blipFill>
        <p:spPr bwMode="auto">
          <a:xfrm>
            <a:off x="479376" y="620688"/>
            <a:ext cx="3508652" cy="1754326"/>
          </a:xfrm>
          <a:prstGeom prst="roundRect">
            <a:avLst>
              <a:gd name="adj" fmla="val 1244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92663F8-C685-3ED6-4DC8-E2C188CE273F}"/>
              </a:ext>
            </a:extLst>
          </p:cNvPr>
          <p:cNvSpPr txBox="1"/>
          <p:nvPr/>
        </p:nvSpPr>
        <p:spPr>
          <a:xfrm>
            <a:off x="4426024" y="2024778"/>
            <a:ext cx="7214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Palatino Linotype" panose="02040502050505030304" pitchFamily="18" charset="0"/>
                <a:ea typeface="Microsoft Office Preview Font" panose="020B0502040204020203" pitchFamily="34"/>
                <a:cs typeface="Mongolian Baiti" panose="03000500000000000000" pitchFamily="66" charset="0"/>
              </a:rPr>
              <a:t>Engenharia de Dados</a:t>
            </a:r>
            <a:endParaRPr lang="pt-BR" sz="2400" b="1" dirty="0">
              <a:latin typeface="Palatino Linotype" panose="02040502050505030304" pitchFamily="18" charset="0"/>
              <a:ea typeface="Microsoft Office Preview Font" panose="020B0502040204020203" pitchFamily="34"/>
              <a:cs typeface="Mongolian Baiti" panose="03000500000000000000" pitchFamily="66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 err="1"/>
              <a:t>Webmining</a:t>
            </a:r>
            <a:endParaRPr lang="pt-BR" dirty="0"/>
          </a:p>
          <a:p>
            <a:pPr>
              <a:lnSpc>
                <a:spcPct val="150000"/>
              </a:lnSpc>
            </a:pPr>
            <a:r>
              <a:rPr lang="pt-BR" dirty="0" err="1"/>
              <a:t>Webcrawlers</a:t>
            </a:r>
            <a:r>
              <a:rPr lang="pt-BR" dirty="0"/>
              <a:t>, Scrapers e </a:t>
            </a:r>
            <a:r>
              <a:rPr lang="pt-BR" dirty="0" err="1"/>
              <a:t>spiders</a:t>
            </a:r>
            <a:endParaRPr lang="pt-BR" dirty="0"/>
          </a:p>
          <a:p>
            <a:pPr>
              <a:lnSpc>
                <a:spcPct val="150000"/>
              </a:lnSpc>
            </a:pPr>
            <a:r>
              <a:rPr lang="pt-BR" dirty="0"/>
              <a:t>Mineração de dados – Métodos, processos e ferramentas</a:t>
            </a:r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30805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00FF00"/>
                </a:solidFill>
              </a:rPr>
              <a:t>Web mining</a:t>
            </a:r>
            <a:r>
              <a:rPr lang="pt-BR" dirty="0"/>
              <a:t> é a área de estudo que se concentra na extração de dados relevantes da </a:t>
            </a:r>
            <a:r>
              <a:rPr lang="pt-BR" u="sng" dirty="0"/>
              <a:t>web</a:t>
            </a:r>
            <a:r>
              <a:rPr lang="pt-BR" dirty="0"/>
              <a:t>.</a:t>
            </a:r>
          </a:p>
          <a:p>
            <a:pPr>
              <a:lnSpc>
                <a:spcPct val="150000"/>
              </a:lnSpc>
            </a:pPr>
            <a:endParaRPr lang="pt-BR" dirty="0"/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00FF00"/>
                </a:solidFill>
              </a:rPr>
              <a:t>Data mining</a:t>
            </a:r>
            <a:r>
              <a:rPr lang="pt-BR" dirty="0"/>
              <a:t> é a etapa no processo de KDD (</a:t>
            </a:r>
            <a:r>
              <a:rPr lang="pt-BR" dirty="0" err="1"/>
              <a:t>Knowlegde</a:t>
            </a:r>
            <a:r>
              <a:rPr lang="pt-BR" dirty="0"/>
              <a:t> Discovery in </a:t>
            </a:r>
            <a:r>
              <a:rPr lang="pt-BR" dirty="0" err="1"/>
              <a:t>Database</a:t>
            </a:r>
            <a:r>
              <a:rPr lang="pt-BR" dirty="0"/>
              <a:t>) no qual ocorre a aplicação de técnicas com a finalidade de se descobrir padrões pertinentes ao domínio dos dados.</a:t>
            </a:r>
            <a:endParaRPr lang="pt-BR" b="1" dirty="0">
              <a:solidFill>
                <a:srgbClr val="00FF00"/>
              </a:solidFill>
            </a:endParaRPr>
          </a:p>
          <a:p>
            <a:pPr>
              <a:lnSpc>
                <a:spcPct val="150000"/>
              </a:lnSpc>
            </a:pPr>
            <a:endParaRPr lang="pt-BR" dirty="0"/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5718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00FF00"/>
                </a:solidFill>
              </a:rPr>
              <a:t>Web mining</a:t>
            </a:r>
            <a:r>
              <a:rPr lang="pt-BR" dirty="0"/>
              <a:t> é a área de estudo que se concentra na extração de dados relevantes da </a:t>
            </a:r>
            <a:r>
              <a:rPr lang="pt-BR" u="sng" dirty="0"/>
              <a:t>web</a:t>
            </a:r>
            <a:r>
              <a:rPr lang="pt-BR" dirty="0"/>
              <a:t>.</a:t>
            </a:r>
          </a:p>
          <a:p>
            <a:pPr>
              <a:lnSpc>
                <a:spcPct val="150000"/>
              </a:lnSpc>
            </a:pPr>
            <a:endParaRPr lang="pt-BR" dirty="0"/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00FF00"/>
                </a:solidFill>
              </a:rPr>
              <a:t>Data mining</a:t>
            </a:r>
            <a:r>
              <a:rPr lang="pt-BR" dirty="0"/>
              <a:t> é a etapa no processo de KDD (</a:t>
            </a:r>
            <a:r>
              <a:rPr lang="pt-BR" dirty="0" err="1"/>
              <a:t>Knowlegde</a:t>
            </a:r>
            <a:r>
              <a:rPr lang="pt-BR" dirty="0"/>
              <a:t> Discovery in </a:t>
            </a:r>
            <a:r>
              <a:rPr lang="pt-BR" dirty="0" err="1"/>
              <a:t>Database</a:t>
            </a:r>
            <a:r>
              <a:rPr lang="pt-BR" dirty="0"/>
              <a:t>) no qual ocorre a aplicação de técnicas com a finalidade de se descobrir padrões pertinentes ao domínio dos dados.</a:t>
            </a:r>
            <a:endParaRPr lang="pt-BR" b="1" dirty="0">
              <a:solidFill>
                <a:srgbClr val="00FF00"/>
              </a:solidFill>
            </a:endParaRPr>
          </a:p>
          <a:p>
            <a:pPr>
              <a:lnSpc>
                <a:spcPct val="150000"/>
              </a:lnSpc>
            </a:pPr>
            <a:endParaRPr lang="pt-BR" dirty="0"/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09386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Arquitetura de serviços web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Modelo Cliente-Servidor</a:t>
            </a:r>
          </a:p>
          <a:p>
            <a:pPr>
              <a:lnSpc>
                <a:spcPct val="150000"/>
              </a:lnSpc>
            </a:pPr>
            <a:r>
              <a:rPr lang="pt-BR" dirty="0"/>
              <a:t>Aplicações web modernas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API REST(</a:t>
            </a:r>
            <a:r>
              <a:rPr lang="pt-BR" dirty="0" err="1"/>
              <a:t>Application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Interface)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SPA (Single Page </a:t>
            </a:r>
            <a:r>
              <a:rPr lang="pt-BR" dirty="0" err="1"/>
              <a:t>Application</a:t>
            </a:r>
            <a:r>
              <a:rPr lang="pt-BR" dirty="0"/>
              <a:t>)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PWA (</a:t>
            </a:r>
            <a:r>
              <a:rPr lang="pt-BR" dirty="0" err="1"/>
              <a:t>Progressive</a:t>
            </a:r>
            <a:r>
              <a:rPr lang="pt-BR" dirty="0"/>
              <a:t> Web App)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Streaming Real Time</a:t>
            </a:r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5267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Arquitetura de serviços web &gt; Modelo Cliente-Servidor</a:t>
            </a:r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  <p:pic>
        <p:nvPicPr>
          <p:cNvPr id="2052" name="Picture 4" descr="AIO | Com Base No Modelo Apresentado Nessa Figura Julgue Os">
            <a:extLst>
              <a:ext uri="{FF2B5EF4-FFF2-40B4-BE49-F238E27FC236}">
                <a16:creationId xmlns:a16="http://schemas.microsoft.com/office/drawing/2014/main" id="{F31AF4DF-4D82-99C5-F5BC-E1AFBA7D9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2492896"/>
            <a:ext cx="7930766" cy="347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40384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124744"/>
            <a:ext cx="10363200" cy="529193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Arquitetura de serviços web &gt; Modelo Cliente-Servidor</a:t>
            </a:r>
          </a:p>
          <a:p>
            <a:pPr>
              <a:lnSpc>
                <a:spcPct val="150000"/>
              </a:lnSpc>
            </a:pPr>
            <a:endParaRPr lang="pt-BR" dirty="0"/>
          </a:p>
          <a:p>
            <a:pPr>
              <a:lnSpc>
                <a:spcPct val="150000"/>
              </a:lnSpc>
            </a:pPr>
            <a:endParaRPr lang="pt-BR" dirty="0"/>
          </a:p>
          <a:p>
            <a:pPr>
              <a:lnSpc>
                <a:spcPct val="150000"/>
              </a:lnSpc>
            </a:pPr>
            <a:endParaRPr lang="pt-BR" dirty="0"/>
          </a:p>
          <a:p>
            <a:pPr>
              <a:lnSpc>
                <a:spcPct val="150000"/>
              </a:lnSpc>
            </a:pPr>
            <a:endParaRPr lang="pt-BR" dirty="0"/>
          </a:p>
          <a:p>
            <a:pPr>
              <a:lnSpc>
                <a:spcPct val="150000"/>
              </a:lnSpc>
            </a:pPr>
            <a:endParaRPr lang="pt-BR" dirty="0"/>
          </a:p>
          <a:p>
            <a:pPr>
              <a:lnSpc>
                <a:spcPct val="150000"/>
              </a:lnSpc>
            </a:pPr>
            <a:endParaRPr lang="pt-BR" sz="1400" b="1" dirty="0"/>
          </a:p>
          <a:p>
            <a:pPr>
              <a:lnSpc>
                <a:spcPct val="150000"/>
              </a:lnSpc>
            </a:pPr>
            <a:r>
              <a:rPr lang="pt-BR" sz="1400" b="1" dirty="0"/>
              <a:t>Fonte</a:t>
            </a:r>
            <a:r>
              <a:rPr lang="pt-BR" sz="1400" dirty="0"/>
              <a:t>: https://www.dio.me/articles/modelo-osi-UFEHA8</a:t>
            </a:r>
            <a:endParaRPr lang="pt-BR" dirty="0"/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UNIFOR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3610D3E-7E90-DAED-E0E9-5BCD9E9F2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23" y="1772816"/>
            <a:ext cx="6510519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6860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Arquitetura de serviços web &gt; Web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  <p:pic>
        <p:nvPicPr>
          <p:cNvPr id="3074" name="Picture 2" descr="Qual é a diferença entre um Website e uma Página Web?">
            <a:extLst>
              <a:ext uri="{FF2B5EF4-FFF2-40B4-BE49-F238E27FC236}">
                <a16:creationId xmlns:a16="http://schemas.microsoft.com/office/drawing/2014/main" id="{BAE99BC2-24DC-80D3-56B6-670BB05AE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4" y="2340864"/>
            <a:ext cx="6552729" cy="436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48369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Arquitetura de serviços web &gt; Web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  <p:pic>
        <p:nvPicPr>
          <p:cNvPr id="7" name="Imagem 6" descr="Diagrama&#10;&#10;Descrição gerada automaticamente">
            <a:extLst>
              <a:ext uri="{FF2B5EF4-FFF2-40B4-BE49-F238E27FC236}">
                <a16:creationId xmlns:a16="http://schemas.microsoft.com/office/drawing/2014/main" id="{E2FE49A9-B896-C37D-F136-DAB282530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767" y="2276872"/>
            <a:ext cx="4722465" cy="423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08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Arquitetura de serviços web &gt; Web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Outras páginas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Recursos internos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Recursos externos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  <p:pic>
        <p:nvPicPr>
          <p:cNvPr id="8" name="Imagem 7" descr="Diagrama&#10;&#10;Descrição gerada automaticamente">
            <a:extLst>
              <a:ext uri="{FF2B5EF4-FFF2-40B4-BE49-F238E27FC236}">
                <a16:creationId xmlns:a16="http://schemas.microsoft.com/office/drawing/2014/main" id="{83CCA146-63A2-7239-7360-1CE670380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2265593"/>
            <a:ext cx="4658444" cy="416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8873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Mineração de Dados</a:t>
            </a:r>
          </a:p>
          <a:p>
            <a:pPr>
              <a:lnSpc>
                <a:spcPct val="150000"/>
              </a:lnSpc>
            </a:pP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700532-9F80-6B8B-D782-85655A5B5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618" y="2311806"/>
            <a:ext cx="9321664" cy="385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6972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Arquitetura de serviços web &gt; </a:t>
            </a:r>
            <a:r>
              <a:rPr lang="pt-BR" dirty="0" err="1"/>
              <a:t>Request</a:t>
            </a:r>
            <a:r>
              <a:rPr lang="pt-BR" dirty="0"/>
              <a:t> &amp; Response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Acessem: </a:t>
            </a:r>
            <a:r>
              <a:rPr lang="pt-BR" dirty="0">
                <a:hlinkClick r:id="rId3"/>
              </a:rPr>
              <a:t>https://info.cern.ch/</a:t>
            </a:r>
            <a:endParaRPr lang="pt-BR" dirty="0"/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3CC736-BFA0-0E1D-62CE-573ACFB5B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865" y="3342456"/>
            <a:ext cx="9716856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6634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604C7-6086-46FE-B853-DB0A71E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Mining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E6780-60F3-42AD-8B41-E221614C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26464"/>
            <a:ext cx="10363200" cy="49290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Arquitetura de serviços web &gt; </a:t>
            </a:r>
            <a:r>
              <a:rPr lang="pt-BR" dirty="0" err="1"/>
              <a:t>Request</a:t>
            </a:r>
            <a:r>
              <a:rPr lang="pt-BR" dirty="0"/>
              <a:t> &amp; Response</a:t>
            </a:r>
          </a:p>
          <a:p>
            <a:pPr lvl="1">
              <a:lnSpc>
                <a:spcPct val="150000"/>
              </a:lnSpc>
            </a:pPr>
            <a:r>
              <a:rPr lang="pt-BR" b="1" u="sng" dirty="0"/>
              <a:t>Atividades</a:t>
            </a:r>
            <a:endParaRPr lang="pt-BR" sz="2000" b="1" u="sng" dirty="0">
              <a:latin typeface="+mj-lt"/>
            </a:endParaRPr>
          </a:p>
          <a:p>
            <a:pPr lvl="2">
              <a:lnSpc>
                <a:spcPct val="150000"/>
              </a:lnSpc>
            </a:pPr>
            <a:r>
              <a:rPr lang="pt-BR" sz="1800" dirty="0">
                <a:latin typeface="+mj-lt"/>
              </a:rPr>
              <a:t>Requisições via navegador</a:t>
            </a:r>
          </a:p>
          <a:p>
            <a:pPr lvl="2">
              <a:lnSpc>
                <a:spcPct val="150000"/>
              </a:lnSpc>
            </a:pPr>
            <a:r>
              <a:rPr lang="pt-BR" sz="1800" dirty="0">
                <a:latin typeface="+mj-lt"/>
              </a:rPr>
              <a:t>PYTHON pandas</a:t>
            </a:r>
          </a:p>
          <a:p>
            <a:pPr lvl="2">
              <a:lnSpc>
                <a:spcPct val="150000"/>
              </a:lnSpc>
            </a:pPr>
            <a:r>
              <a:rPr lang="pt-BR" sz="1800" dirty="0">
                <a:latin typeface="+mj-lt"/>
              </a:rPr>
              <a:t>PYTHON </a:t>
            </a:r>
            <a:r>
              <a:rPr lang="pt-BR" sz="1800" dirty="0" err="1">
                <a:latin typeface="+mj-lt"/>
              </a:rPr>
              <a:t>requests</a:t>
            </a:r>
            <a:endParaRPr lang="pt-BR" sz="1800" dirty="0">
              <a:latin typeface="+mj-lt"/>
            </a:endParaRPr>
          </a:p>
          <a:p>
            <a:pPr lvl="2">
              <a:lnSpc>
                <a:spcPct val="150000"/>
              </a:lnSpc>
            </a:pPr>
            <a:r>
              <a:rPr lang="pt-BR" sz="1800" dirty="0">
                <a:latin typeface="+mj-lt"/>
              </a:rPr>
              <a:t>PYTHON </a:t>
            </a:r>
            <a:r>
              <a:rPr lang="pt-BR" sz="1800" dirty="0" err="1">
                <a:latin typeface="+mj-lt"/>
              </a:rPr>
              <a:t>flask</a:t>
            </a:r>
            <a:endParaRPr lang="pt-BR" sz="1800" dirty="0">
              <a:latin typeface="+mj-lt"/>
            </a:endParaRPr>
          </a:p>
          <a:p>
            <a:pPr lvl="2">
              <a:lnSpc>
                <a:spcPct val="150000"/>
              </a:lnSpc>
            </a:pPr>
            <a:r>
              <a:rPr lang="pt-BR" sz="1800" dirty="0">
                <a:latin typeface="+mj-lt"/>
              </a:rPr>
              <a:t>PYTHON </a:t>
            </a:r>
            <a:r>
              <a:rPr lang="pt-BR" sz="1800" dirty="0" err="1">
                <a:latin typeface="+mj-lt"/>
              </a:rPr>
              <a:t>selenium</a:t>
            </a:r>
            <a:endParaRPr lang="pt-BR" sz="1800" dirty="0">
              <a:latin typeface="+mj-lt"/>
            </a:endParaRPr>
          </a:p>
          <a:p>
            <a:pPr lvl="2">
              <a:lnSpc>
                <a:spcPct val="150000"/>
              </a:lnSpc>
            </a:pPr>
            <a:endParaRPr lang="pt-BR" sz="1800" dirty="0">
              <a:latin typeface="+mj-lt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6A1741-3F4D-4B6F-9D79-02F3EA8E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1B316-92AE-F9D7-C71D-D7B8FEE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704453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50A92-F777-40FB-AEE9-98968D2B9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Obrigado!!!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340AC1-3C8A-4D44-94C3-30007C86CF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pt-BR" sz="6000" b="1" dirty="0"/>
              <a:t>Web Mining &amp; </a:t>
            </a:r>
            <a:r>
              <a:rPr lang="pt-BR" sz="6000" b="1" dirty="0" err="1"/>
              <a:t>Crawler</a:t>
            </a:r>
            <a:r>
              <a:rPr lang="pt-BR" sz="6000" b="1" dirty="0"/>
              <a:t> </a:t>
            </a:r>
            <a:r>
              <a:rPr lang="pt-BR" sz="6000" b="1" dirty="0" err="1"/>
              <a:t>Scraping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507862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ô">
  <a:themeElements>
    <a:clrScheme name="Personalizada 1">
      <a:dk1>
        <a:sysClr val="windowText" lastClr="000000"/>
      </a:dk1>
      <a:lt1>
        <a:sysClr val="window" lastClr="FFFFFF"/>
      </a:lt1>
      <a:dk2>
        <a:srgbClr val="344068"/>
      </a:dk2>
      <a:lt2>
        <a:srgbClr val="1DBD2C"/>
      </a:lt2>
      <a:accent1>
        <a:srgbClr val="1CADE4"/>
      </a:accent1>
      <a:accent2>
        <a:srgbClr val="124163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Metrô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ô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2415</TotalTime>
  <Words>411</Words>
  <Application>Microsoft Office PowerPoint</Application>
  <PresentationFormat>Widescreen</PresentationFormat>
  <Paragraphs>133</Paragraphs>
  <Slides>14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3" baseType="lpstr">
      <vt:lpstr>Caladea</vt:lpstr>
      <vt:lpstr>Calibri</vt:lpstr>
      <vt:lpstr>Consolas</vt:lpstr>
      <vt:lpstr>Corbel</vt:lpstr>
      <vt:lpstr>Palatino Linotype</vt:lpstr>
      <vt:lpstr>Wingdings</vt:lpstr>
      <vt:lpstr>Wingdings 2</vt:lpstr>
      <vt:lpstr>Wingdings 3</vt:lpstr>
      <vt:lpstr>Metrô</vt:lpstr>
      <vt:lpstr>Introdução</vt:lpstr>
      <vt:lpstr>Introdução</vt:lpstr>
      <vt:lpstr>Web Mining</vt:lpstr>
      <vt:lpstr>Web Mining</vt:lpstr>
      <vt:lpstr>Web Mining</vt:lpstr>
      <vt:lpstr>Web Mining</vt:lpstr>
      <vt:lpstr>Web Mining</vt:lpstr>
      <vt:lpstr>Web Mining</vt:lpstr>
      <vt:lpstr>Web Mining</vt:lpstr>
      <vt:lpstr>Web Mining</vt:lpstr>
      <vt:lpstr>Web Mining</vt:lpstr>
      <vt:lpstr>Web Mining</vt:lpstr>
      <vt:lpstr>Web Mining</vt:lpstr>
      <vt:lpstr>Obrigado!!!</vt:lpstr>
    </vt:vector>
  </TitlesOfParts>
  <Company>Anabele Studios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Alex Lima</dc:creator>
  <cp:keywords>Introdução;Programação</cp:keywords>
  <cp:lastModifiedBy>Alex Lima</cp:lastModifiedBy>
  <cp:revision>243</cp:revision>
  <dcterms:created xsi:type="dcterms:W3CDTF">2009-02-25T19:16:57Z</dcterms:created>
  <dcterms:modified xsi:type="dcterms:W3CDTF">2024-04-05T20:20:31Z</dcterms:modified>
</cp:coreProperties>
</file>